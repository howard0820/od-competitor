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5" r:id="rId4"/>
    <p:sldMasterId id="214748368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embeddedFontLst>
    <p:embeddedFont>
      <p:font typeface="Outfit"/>
      <p:regular r:id="rId11"/>
      <p:bold r:id="rId12"/>
    </p:embeddedFont>
    <p:embeddedFont>
      <p:font typeface="Outfit SemiBold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55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984">
          <p15:clr>
            <a:srgbClr val="9AA0A6"/>
          </p15:clr>
        </p15:guide>
        <p15:guide id="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551" orient="horz"/>
        <p:guide pos="2880"/>
        <p:guide pos="1984" orient="horz"/>
        <p:guide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font" Target="fonts/Outfit-regular.fntdata"/><Relationship Id="rId10" Type="http://schemas.openxmlformats.org/officeDocument/2006/relationships/slide" Target="slides/slide4.xml"/><Relationship Id="rId13" Type="http://schemas.openxmlformats.org/officeDocument/2006/relationships/font" Target="fonts/OutfitSemiBold-regular.fntdata"/><Relationship Id="rId12" Type="http://schemas.openxmlformats.org/officeDocument/2006/relationships/font" Target="fonts/Outfit-bold.fntdata"/><Relationship Id="rId14" Type="http://schemas.openxmlformats.org/officeDocument/2006/relationships/font" Target="fonts/Outfit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578a0b54a_5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c578a0b54a_5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d7ef7ac97_2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bd7ef7ac97_2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578a0b54a_5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c578a0b54a_5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c578a0b54a_5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c578a0b54a_5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Very long text 2 columns">
  <p:cSld name="Titre + Very long text 2 column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941785" y="345281"/>
            <a:ext cx="72606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2" type="body"/>
          </p:nvPr>
        </p:nvSpPr>
        <p:spPr>
          <a:xfrm>
            <a:off x="941784" y="1613795"/>
            <a:ext cx="3450600" cy="3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3" type="body"/>
          </p:nvPr>
        </p:nvSpPr>
        <p:spPr>
          <a:xfrm>
            <a:off x="4710218" y="1613795"/>
            <a:ext cx="3450600" cy="3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4" type="body"/>
          </p:nvPr>
        </p:nvSpPr>
        <p:spPr>
          <a:xfrm>
            <a:off x="941783" y="902064"/>
            <a:ext cx="72606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pic>
        <p:nvPicPr>
          <p:cNvPr descr="OWNDAYS REVAMPS BRAND IDENTITY, DEBUTING NEW RETAIL DESIGN ..." id="55" name="Google Shape;5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14460" y="317619"/>
            <a:ext cx="597843" cy="3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" name="Google Shape;85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" name="Google Shape;89;p2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2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2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" name="Google Shape;101;p2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本文">
  <p:cSld name="本文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"/>
          <p:cNvSpPr txBox="1"/>
          <p:nvPr/>
        </p:nvSpPr>
        <p:spPr>
          <a:xfrm>
            <a:off x="9001950" y="-94881"/>
            <a:ext cx="141900" cy="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zh-TW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本文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5"/>
          <p:cNvSpPr txBox="1"/>
          <p:nvPr>
            <p:ph type="title"/>
          </p:nvPr>
        </p:nvSpPr>
        <p:spPr>
          <a:xfrm>
            <a:off x="168925" y="242888"/>
            <a:ext cx="8255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54000" spcFirstLastPara="1" rIns="54000" wrap="square" tIns="0">
            <a:noAutofit/>
          </a:bodyPr>
          <a:lstStyle>
            <a:lvl1pPr lvl="0" algn="l">
              <a:lnSpc>
                <a:spcPct val="117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1" name="Google Shape;111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2" name="Google Shape;11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5" name="Google Shape;11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" name="Google Shape;11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9" name="Google Shape;11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" name="Google Shape;122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3" name="Google Shape;123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4" name="Google Shape;12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" name="Google Shape;127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0" name="Google Shape;130;p3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1" name="Google Shape;13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4" name="Google Shape;13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8" name="Google Shape;138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9" name="Google Shape;139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0" name="Google Shape;140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43" name="Google Shape;143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6" name="Google Shape;146;p3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7" name="Google Shape;14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2" name="Google Shape;152;p3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53" name="Google Shape;153;p3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54" name="Google Shape;154;p3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55" name="Google Shape;155;p3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本文">
  <p:cSld name="本文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9"/>
          <p:cNvSpPr txBox="1"/>
          <p:nvPr/>
        </p:nvSpPr>
        <p:spPr>
          <a:xfrm>
            <a:off x="9001950" y="-94881"/>
            <a:ext cx="141900" cy="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zh-TW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本文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9"/>
          <p:cNvSpPr txBox="1"/>
          <p:nvPr>
            <p:ph type="title"/>
          </p:nvPr>
        </p:nvSpPr>
        <p:spPr>
          <a:xfrm>
            <a:off x="168925" y="242888"/>
            <a:ext cx="8255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54000" spcFirstLastPara="1" rIns="54000" wrap="square" tIns="0">
            <a:noAutofit/>
          </a:bodyPr>
          <a:lstStyle>
            <a:lvl1pPr lvl="0" algn="l">
              <a:lnSpc>
                <a:spcPct val="117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36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" name="Google Shape;10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hyperlink" Target="https://www.jins.com/tw/news/news-699fae28c8df2" TargetMode="External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hyperlink" Target="https://www.jins.com/tw/news/news-699fae28c8df2" TargetMode="External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hyperlink" Target="https://meganeichiba.com.tw/news/170" TargetMode="External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0"/>
          <p:cNvSpPr/>
          <p:nvPr/>
        </p:nvSpPr>
        <p:spPr>
          <a:xfrm>
            <a:off x="8821033" y="100803"/>
            <a:ext cx="182700" cy="201000"/>
          </a:xfrm>
          <a:prstGeom prst="flowChartConnector">
            <a:avLst/>
          </a:prstGeom>
          <a:solidFill>
            <a:srgbClr val="FBEC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0"/>
          <p:cNvSpPr/>
          <p:nvPr/>
        </p:nvSpPr>
        <p:spPr>
          <a:xfrm>
            <a:off x="1030545" y="100803"/>
            <a:ext cx="182700" cy="201000"/>
          </a:xfrm>
          <a:prstGeom prst="flowChartConnector">
            <a:avLst/>
          </a:prstGeom>
          <a:solidFill>
            <a:srgbClr val="D8C5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094" y="88219"/>
            <a:ext cx="787710" cy="226137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40"/>
          <p:cNvSpPr txBox="1"/>
          <p:nvPr/>
        </p:nvSpPr>
        <p:spPr>
          <a:xfrm>
            <a:off x="271775" y="492975"/>
            <a:ext cx="84600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latin typeface="Outfit SemiBold"/>
                <a:ea typeface="Outfit SemiBold"/>
                <a:cs typeface="Outfit SemiBold"/>
                <a:sym typeface="Outfit SemiBold"/>
              </a:rPr>
              <a:t>營業Update</a:t>
            </a:r>
            <a:endParaRPr sz="1800"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167" name="Google Shape;167;p40"/>
          <p:cNvSpPr/>
          <p:nvPr/>
        </p:nvSpPr>
        <p:spPr>
          <a:xfrm flipH="1">
            <a:off x="1107350" y="100803"/>
            <a:ext cx="7811100" cy="201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BECDD"/>
              </a:gs>
              <a:gs pos="100000">
                <a:srgbClr val="D8C5AF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0"/>
          <p:cNvSpPr txBox="1"/>
          <p:nvPr/>
        </p:nvSpPr>
        <p:spPr>
          <a:xfrm>
            <a:off x="476250" y="1322301"/>
            <a:ext cx="8051400" cy="28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300">
                <a:solidFill>
                  <a:schemeClr val="dk2"/>
                </a:solidFill>
                <a:latin typeface="Outfit"/>
                <a:ea typeface="Outfit"/>
                <a:cs typeface="Outfit"/>
                <a:sym typeface="Outfit"/>
              </a:rPr>
              <a:t>Topics for today</a:t>
            </a:r>
            <a:endParaRPr b="1" sz="2300"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Font typeface="Outfit"/>
              <a:buChar char="○"/>
            </a:pPr>
            <a:r>
              <a:rPr lang="zh-TW" sz="2300">
                <a:solidFill>
                  <a:srgbClr val="434343"/>
                </a:solidFill>
                <a:latin typeface="Outfit"/>
                <a:ea typeface="Outfit"/>
                <a:cs typeface="Outfit"/>
                <a:sym typeface="Outfit"/>
              </a:rPr>
              <a:t>日製鏡片分享</a:t>
            </a:r>
            <a:endParaRPr sz="2300">
              <a:solidFill>
                <a:srgbClr val="434343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Outfit"/>
              <a:buChar char="○"/>
            </a:pPr>
            <a:r>
              <a:rPr lang="zh-TW" sz="2300">
                <a:solidFill>
                  <a:schemeClr val="dk2"/>
                </a:solidFill>
                <a:latin typeface="Outfit"/>
                <a:ea typeface="Outfit"/>
                <a:cs typeface="Outfit"/>
                <a:sym typeface="Outfit"/>
              </a:rPr>
              <a:t>競爭對手資訊分享</a:t>
            </a:r>
            <a:endParaRPr sz="2300"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Outfit"/>
              <a:buChar char="○"/>
            </a:pPr>
            <a:r>
              <a:rPr lang="zh-TW" sz="2300">
                <a:solidFill>
                  <a:schemeClr val="dk2"/>
                </a:solidFill>
                <a:latin typeface="Outfit"/>
                <a:ea typeface="Outfit"/>
                <a:cs typeface="Outfit"/>
                <a:sym typeface="Outfit"/>
              </a:rPr>
              <a:t>EC</a:t>
            </a:r>
            <a:r>
              <a:rPr lang="zh-TW" sz="2300">
                <a:solidFill>
                  <a:schemeClr val="dk2"/>
                </a:solidFill>
                <a:latin typeface="Outfit"/>
                <a:ea typeface="Outfit"/>
                <a:cs typeface="Outfit"/>
                <a:sym typeface="Outfit"/>
              </a:rPr>
              <a:t>直播分享</a:t>
            </a:r>
            <a:endParaRPr sz="2300"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Outfit"/>
              <a:buChar char="○"/>
            </a:pPr>
            <a:r>
              <a:rPr lang="zh-TW" sz="2300">
                <a:solidFill>
                  <a:schemeClr val="dk2"/>
                </a:solidFill>
                <a:latin typeface="Outfit"/>
                <a:ea typeface="Outfit"/>
                <a:cs typeface="Outfit"/>
                <a:sym typeface="Outfit"/>
              </a:rPr>
              <a:t>重點事項分享</a:t>
            </a:r>
            <a:endParaRPr sz="2300"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9" name="Google Shape;169;p40"/>
          <p:cNvSpPr/>
          <p:nvPr/>
        </p:nvSpPr>
        <p:spPr>
          <a:xfrm>
            <a:off x="1030550" y="2133512"/>
            <a:ext cx="4109100" cy="324000"/>
          </a:xfrm>
          <a:prstGeom prst="roundRect">
            <a:avLst>
              <a:gd fmla="val 16667" name="adj"/>
            </a:avLst>
          </a:prstGeom>
          <a:solidFill>
            <a:srgbClr val="4285F4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/>
          <p:nvPr/>
        </p:nvSpPr>
        <p:spPr>
          <a:xfrm>
            <a:off x="271775" y="188175"/>
            <a:ext cx="84600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latin typeface="Outfit SemiBold"/>
                <a:ea typeface="Outfit SemiBold"/>
                <a:cs typeface="Outfit SemiBold"/>
                <a:sym typeface="Outfit SemiBold"/>
              </a:rPr>
              <a:t>Jins活動 - </a:t>
            </a:r>
            <a:r>
              <a:rPr lang="zh-TW" sz="1800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門市</a:t>
            </a:r>
            <a:r>
              <a:rPr lang="zh-TW" sz="1800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活動</a:t>
            </a:r>
            <a:endParaRPr sz="1800">
              <a:solidFill>
                <a:schemeClr val="dk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pic>
        <p:nvPicPr>
          <p:cNvPr id="175" name="Google Shape;17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3992" y="74236"/>
            <a:ext cx="782188" cy="30134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41"/>
          <p:cNvSpPr txBox="1"/>
          <p:nvPr/>
        </p:nvSpPr>
        <p:spPr>
          <a:xfrm>
            <a:off x="271781" y="563888"/>
            <a:ext cx="8670600" cy="1086000"/>
          </a:xfrm>
          <a:prstGeom prst="rect">
            <a:avLst/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utfit"/>
              <a:buChar char="●"/>
            </a:pPr>
            <a:r>
              <a:rPr b="1" lang="zh-TW">
                <a:solidFill>
                  <a:schemeClr val="dk2"/>
                </a:solidFill>
                <a:latin typeface="Outfit"/>
                <a:ea typeface="Outfit"/>
                <a:cs typeface="Outfit"/>
                <a:sym typeface="Outfit"/>
              </a:rPr>
              <a:t>走期：📅 活動期間：2026/2/26（四） - 2026/3/15（日）</a:t>
            </a:r>
            <a:endParaRPr b="1" sz="2000"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utfit"/>
              <a:buChar char="●"/>
            </a:pPr>
            <a:r>
              <a:rPr b="1" lang="zh-TW" sz="1400">
                <a:solidFill>
                  <a:schemeClr val="dk2"/>
                </a:solidFill>
                <a:latin typeface="Outfit"/>
                <a:ea typeface="Outfit"/>
                <a:cs typeface="Outfit"/>
                <a:sym typeface="Outfit"/>
              </a:rPr>
              <a:t>活動內容: </a:t>
            </a:r>
            <a:r>
              <a:rPr lang="zh-TW" sz="1200">
                <a:solidFill>
                  <a:srgbClr val="3E3A39"/>
                </a:solidFill>
                <a:highlight>
                  <a:srgbClr val="FFFFFF"/>
                </a:highlight>
              </a:rPr>
              <a:t>如圖</a:t>
            </a:r>
            <a:endParaRPr b="1" sz="1800"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utfit"/>
              <a:buChar char="●"/>
            </a:pPr>
            <a:r>
              <a:rPr b="1" lang="zh-TW" sz="1400">
                <a:solidFill>
                  <a:schemeClr val="dk2"/>
                </a:solidFill>
                <a:latin typeface="Outfit"/>
                <a:ea typeface="Outfit"/>
                <a:cs typeface="Outfit"/>
                <a:sym typeface="Outfit"/>
              </a:rPr>
              <a:t>活動細則: </a:t>
            </a:r>
            <a:r>
              <a:rPr b="1" lang="zh-TW" sz="1400" u="sng">
                <a:solidFill>
                  <a:schemeClr val="hlink"/>
                </a:solidFill>
                <a:latin typeface="Outfit"/>
                <a:ea typeface="Outfit"/>
                <a:cs typeface="Outfit"/>
                <a:sym typeface="Outfit"/>
                <a:hlinkClick r:id="rId4"/>
              </a:rPr>
              <a:t>活動連結</a:t>
            </a:r>
            <a:endParaRPr b="1" sz="1400"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utfit"/>
              <a:buChar char="●"/>
            </a:pPr>
            <a:r>
              <a:rPr b="1" lang="zh-TW" sz="1400">
                <a:solidFill>
                  <a:schemeClr val="dk2"/>
                </a:solidFill>
                <a:latin typeface="Outfit"/>
                <a:ea typeface="Outfit"/>
                <a:cs typeface="Outfit"/>
                <a:sym typeface="Outfit"/>
              </a:rPr>
              <a:t>相關文宣 / 圖片: </a:t>
            </a:r>
            <a:endParaRPr b="1" sz="1400"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7" name="Google Shape;177;p41"/>
          <p:cNvSpPr txBox="1"/>
          <p:nvPr/>
        </p:nvSpPr>
        <p:spPr>
          <a:xfrm>
            <a:off x="3499400" y="1811257"/>
            <a:ext cx="5492100" cy="140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4900" lIns="54900" spcFirstLastPara="1" rIns="54900" wrap="square" tIns="54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rgbClr val="0E0E0E"/>
                </a:solidFill>
                <a:latin typeface="Outfit"/>
                <a:ea typeface="Outfit"/>
                <a:cs typeface="Outfit"/>
                <a:sym typeface="Outfit"/>
              </a:rPr>
              <a:t>Comparison</a:t>
            </a:r>
            <a:endParaRPr b="1" sz="1200">
              <a:solidFill>
                <a:srgbClr val="0E0E0E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Outfit"/>
              <a:buAutoNum type="arabicPeriod"/>
            </a:pPr>
            <a:r>
              <a:rPr b="1" lang="zh-TW" sz="1200">
                <a:solidFill>
                  <a:srgbClr val="0E0E0E"/>
                </a:solidFill>
                <a:latin typeface="Outfit"/>
                <a:ea typeface="Outfit"/>
                <a:cs typeface="Outfit"/>
                <a:sym typeface="Outfit"/>
              </a:rPr>
              <a:t>日製多焦9折: 無套餐下Jins較優</a:t>
            </a:r>
            <a:endParaRPr b="1" sz="1200">
              <a:solidFill>
                <a:srgbClr val="0E0E0E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Outfit"/>
              <a:buAutoNum type="arabicPeriod"/>
            </a:pPr>
            <a:r>
              <a:rPr b="1" lang="zh-TW" sz="1200">
                <a:solidFill>
                  <a:srgbClr val="0E0E0E"/>
                </a:solidFill>
                <a:latin typeface="Outfit"/>
                <a:ea typeface="Outfit"/>
                <a:cs typeface="Outfit"/>
                <a:sym typeface="Outfit"/>
              </a:rPr>
              <a:t>多焦加購</a:t>
            </a:r>
            <a:endParaRPr b="1" sz="1200">
              <a:solidFill>
                <a:srgbClr val="0E0E0E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Outfit"/>
              <a:buAutoNum type="alphaLcPeriod"/>
            </a:pPr>
            <a:r>
              <a:rPr b="1" lang="zh-TW" sz="1200">
                <a:solidFill>
                  <a:srgbClr val="0E0E0E"/>
                </a:solidFill>
                <a:latin typeface="Outfit"/>
                <a:ea typeface="Outfit"/>
                <a:cs typeface="Outfit"/>
                <a:sym typeface="Outfit"/>
              </a:rPr>
              <a:t>藍光85折: Jins較優 (OWNDAYS套餐至少額外兩功能，折數最高88折)</a:t>
            </a:r>
            <a:endParaRPr b="1" sz="1200">
              <a:solidFill>
                <a:srgbClr val="0E0E0E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Outfit"/>
              <a:buAutoNum type="alphaLcPeriod"/>
            </a:pPr>
            <a:r>
              <a:rPr b="1" lang="zh-TW" sz="1200">
                <a:solidFill>
                  <a:srgbClr val="0E0E0E"/>
                </a:solidFill>
                <a:latin typeface="Outfit"/>
                <a:ea typeface="Outfit"/>
                <a:cs typeface="Outfit"/>
                <a:sym typeface="Outfit"/>
              </a:rPr>
              <a:t>調光8折: </a:t>
            </a:r>
            <a:r>
              <a:rPr b="1" lang="zh-TW" sz="1200">
                <a:solidFill>
                  <a:srgbClr val="0E0E0E"/>
                </a:solidFill>
                <a:latin typeface="Outfit"/>
                <a:ea typeface="Outfit"/>
                <a:cs typeface="Outfit"/>
                <a:sym typeface="Outfit"/>
              </a:rPr>
              <a:t>Jins較優 (OWNDAYS套餐至少額外兩功能，折數最高88折)</a:t>
            </a:r>
            <a:endParaRPr b="1" sz="1200">
              <a:solidFill>
                <a:srgbClr val="0E0E0E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78" name="Google Shape;178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1775" y="1811249"/>
            <a:ext cx="2966126" cy="205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2"/>
          <p:cNvSpPr txBox="1"/>
          <p:nvPr/>
        </p:nvSpPr>
        <p:spPr>
          <a:xfrm>
            <a:off x="271775" y="188175"/>
            <a:ext cx="84600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latin typeface="Outfit SemiBold"/>
                <a:ea typeface="Outfit SemiBold"/>
                <a:cs typeface="Outfit SemiBold"/>
                <a:sym typeface="Outfit SemiBold"/>
              </a:rPr>
              <a:t>Jins活動 - </a:t>
            </a:r>
            <a:r>
              <a:rPr lang="zh-TW" sz="1800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EC活動</a:t>
            </a:r>
            <a:endParaRPr sz="1800">
              <a:solidFill>
                <a:schemeClr val="dk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pic>
        <p:nvPicPr>
          <p:cNvPr id="184" name="Google Shape;18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3992" y="74236"/>
            <a:ext cx="782188" cy="30134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42"/>
          <p:cNvSpPr txBox="1"/>
          <p:nvPr/>
        </p:nvSpPr>
        <p:spPr>
          <a:xfrm>
            <a:off x="271781" y="563888"/>
            <a:ext cx="8670600" cy="1086000"/>
          </a:xfrm>
          <a:prstGeom prst="rect">
            <a:avLst/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utfit"/>
              <a:buChar char="●"/>
            </a:pPr>
            <a:r>
              <a:rPr b="1" lang="zh-TW">
                <a:solidFill>
                  <a:schemeClr val="dk2"/>
                </a:solidFill>
                <a:latin typeface="Outfit"/>
                <a:ea typeface="Outfit"/>
                <a:cs typeface="Outfit"/>
                <a:sym typeface="Outfit"/>
              </a:rPr>
              <a:t>走期：📅 活動期間：2026/2/26（四） - 2026/3/15（日）</a:t>
            </a:r>
            <a:endParaRPr b="1" sz="2000"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utfit"/>
              <a:buChar char="●"/>
            </a:pPr>
            <a:r>
              <a:rPr b="1" lang="zh-TW" sz="1400">
                <a:solidFill>
                  <a:schemeClr val="dk2"/>
                </a:solidFill>
                <a:latin typeface="Outfit"/>
                <a:ea typeface="Outfit"/>
                <a:cs typeface="Outfit"/>
                <a:sym typeface="Outfit"/>
              </a:rPr>
              <a:t>活動內容: </a:t>
            </a:r>
            <a:r>
              <a:rPr lang="zh-TW" sz="1200">
                <a:solidFill>
                  <a:srgbClr val="3E3A39"/>
                </a:solidFill>
                <a:highlight>
                  <a:srgbClr val="FFFFFF"/>
                </a:highlight>
              </a:rPr>
              <a:t>如圖</a:t>
            </a:r>
            <a:endParaRPr b="1" sz="1800"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utfit"/>
              <a:buChar char="●"/>
            </a:pPr>
            <a:r>
              <a:rPr b="1" lang="zh-TW" sz="1400">
                <a:solidFill>
                  <a:schemeClr val="dk2"/>
                </a:solidFill>
                <a:latin typeface="Outfit"/>
                <a:ea typeface="Outfit"/>
                <a:cs typeface="Outfit"/>
                <a:sym typeface="Outfit"/>
              </a:rPr>
              <a:t>活動細則: </a:t>
            </a:r>
            <a:r>
              <a:rPr b="1" lang="zh-TW" sz="1400" u="sng">
                <a:solidFill>
                  <a:schemeClr val="hlink"/>
                </a:solidFill>
                <a:latin typeface="Outfit"/>
                <a:ea typeface="Outfit"/>
                <a:cs typeface="Outfit"/>
                <a:sym typeface="Outfit"/>
                <a:hlinkClick r:id="rId4"/>
              </a:rPr>
              <a:t>活動連結</a:t>
            </a:r>
            <a:endParaRPr b="1" sz="1400"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utfit"/>
              <a:buChar char="●"/>
            </a:pPr>
            <a:r>
              <a:rPr b="1" lang="zh-TW" sz="1400">
                <a:solidFill>
                  <a:schemeClr val="dk2"/>
                </a:solidFill>
                <a:latin typeface="Outfit"/>
                <a:ea typeface="Outfit"/>
                <a:cs typeface="Outfit"/>
                <a:sym typeface="Outfit"/>
              </a:rPr>
              <a:t>相關文宣 / 圖片: </a:t>
            </a:r>
            <a:endParaRPr b="1" sz="1400"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86" name="Google Shape;186;p42"/>
          <p:cNvSpPr txBox="1"/>
          <p:nvPr/>
        </p:nvSpPr>
        <p:spPr>
          <a:xfrm>
            <a:off x="3499400" y="1811257"/>
            <a:ext cx="5492100" cy="1588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4900" lIns="54900" spcFirstLastPara="1" rIns="54900" wrap="square" tIns="54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rgbClr val="0E0E0E"/>
                </a:solidFill>
                <a:latin typeface="Outfit"/>
                <a:ea typeface="Outfit"/>
                <a:cs typeface="Outfit"/>
                <a:sym typeface="Outfit"/>
              </a:rPr>
              <a:t>Comparison</a:t>
            </a:r>
            <a:endParaRPr b="1" sz="1200">
              <a:solidFill>
                <a:srgbClr val="0E0E0E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Outfit"/>
              <a:buAutoNum type="arabicPeriod"/>
            </a:pPr>
            <a:r>
              <a:rPr b="1" lang="zh-TW" sz="1200">
                <a:solidFill>
                  <a:srgbClr val="0E0E0E"/>
                </a:solidFill>
                <a:latin typeface="Outfit"/>
                <a:ea typeface="Outfit"/>
                <a:cs typeface="Outfit"/>
                <a:sym typeface="Outfit"/>
              </a:rPr>
              <a:t>滿額折: OWNDAYS較優 ($2,000 / $200; $3,500 / $388)</a:t>
            </a:r>
            <a:endParaRPr b="1" sz="1200">
              <a:solidFill>
                <a:srgbClr val="0E0E0E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Outfit"/>
              <a:buAutoNum type="arabicPeriod"/>
            </a:pPr>
            <a:r>
              <a:rPr b="1" lang="zh-TW" sz="1200">
                <a:solidFill>
                  <a:srgbClr val="0E0E0E"/>
                </a:solidFill>
                <a:latin typeface="Outfit"/>
                <a:ea typeface="Outfit"/>
                <a:cs typeface="Outfit"/>
                <a:sym typeface="Outfit"/>
              </a:rPr>
              <a:t>驚喜商品5折起: OWNDAYS較優 (有Liquidation 4折)</a:t>
            </a:r>
            <a:endParaRPr b="1" sz="1200">
              <a:solidFill>
                <a:srgbClr val="0E0E0E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Outfit"/>
              <a:buAutoNum type="arabicPeriod"/>
            </a:pPr>
            <a:r>
              <a:rPr b="1" lang="zh-TW" sz="1200">
                <a:solidFill>
                  <a:srgbClr val="0E0E0E"/>
                </a:solidFill>
                <a:latin typeface="Outfit"/>
                <a:ea typeface="Outfit"/>
                <a:cs typeface="Outfit"/>
                <a:sym typeface="Outfit"/>
              </a:rPr>
              <a:t>指定品$1,599起: OWNDAYS較優 (Jins ~5隻$1,599; 我們有Liquidation)</a:t>
            </a:r>
            <a:endParaRPr b="1" sz="1200">
              <a:solidFill>
                <a:srgbClr val="0E0E0E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Outfit"/>
              <a:buAutoNum type="arabicPeriod"/>
            </a:pPr>
            <a:r>
              <a:rPr b="1" lang="zh-TW" sz="1200">
                <a:solidFill>
                  <a:srgbClr val="0E0E0E"/>
                </a:solidFill>
                <a:latin typeface="Outfit"/>
                <a:ea typeface="Outfit"/>
                <a:cs typeface="Outfit"/>
                <a:sym typeface="Outfit"/>
              </a:rPr>
              <a:t>藍光$850起: Jins較優 (OWNDAYS官網3/12起配合HERO Campaign有鏡片優惠</a:t>
            </a:r>
            <a:endParaRPr b="1" sz="1200">
              <a:solidFill>
                <a:srgbClr val="0E0E0E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Outfit"/>
              <a:buAutoNum type="alphaLcPeriod"/>
            </a:pPr>
            <a:r>
              <a:rPr b="1" lang="zh-TW" sz="1200">
                <a:solidFill>
                  <a:srgbClr val="0E0E0E"/>
                </a:solidFill>
                <a:latin typeface="Outfit"/>
                <a:ea typeface="Outfit"/>
                <a:cs typeface="Outfit"/>
                <a:sym typeface="Outfit"/>
              </a:rPr>
              <a:t>全系列鏡片9折</a:t>
            </a:r>
            <a:endParaRPr b="1" sz="1200">
              <a:solidFill>
                <a:srgbClr val="0E0E0E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Outfit"/>
              <a:buAutoNum type="alphaLcPeriod"/>
            </a:pPr>
            <a:r>
              <a:rPr b="1" lang="zh-TW" sz="1200">
                <a:solidFill>
                  <a:srgbClr val="0E0E0E"/>
                </a:solidFill>
                <a:latin typeface="Outfit"/>
                <a:ea typeface="Outfit"/>
                <a:cs typeface="Outfit"/>
                <a:sym typeface="Outfit"/>
              </a:rPr>
              <a:t>有顏色鏡片皆85折 (染色、調光變色、全視線)</a:t>
            </a:r>
            <a:endParaRPr b="1" sz="1200">
              <a:solidFill>
                <a:srgbClr val="0E0E0E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87" name="Google Shape;187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1775" y="1811250"/>
            <a:ext cx="2980523" cy="2966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3"/>
          <p:cNvSpPr txBox="1"/>
          <p:nvPr/>
        </p:nvSpPr>
        <p:spPr>
          <a:xfrm>
            <a:off x="271775" y="188175"/>
            <a:ext cx="84600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latin typeface="Outfit SemiBold"/>
                <a:ea typeface="Outfit SemiBold"/>
                <a:cs typeface="Outfit SemiBold"/>
                <a:sym typeface="Outfit SemiBold"/>
              </a:rPr>
              <a:t>眼鏡市場</a:t>
            </a:r>
            <a:r>
              <a:rPr lang="zh-TW" sz="1800">
                <a:latin typeface="Outfit SemiBold"/>
                <a:ea typeface="Outfit SemiBold"/>
                <a:cs typeface="Outfit SemiBold"/>
                <a:sym typeface="Outfit SemiBold"/>
              </a:rPr>
              <a:t>活動 - </a:t>
            </a:r>
            <a:r>
              <a:rPr lang="zh-TW" sz="1800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門市</a:t>
            </a:r>
            <a:r>
              <a:rPr lang="zh-TW" sz="1800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活動</a:t>
            </a:r>
            <a:endParaRPr sz="1800">
              <a:solidFill>
                <a:schemeClr val="dk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pic>
        <p:nvPicPr>
          <p:cNvPr id="193" name="Google Shape;19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3992" y="74236"/>
            <a:ext cx="782188" cy="30134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43"/>
          <p:cNvSpPr txBox="1"/>
          <p:nvPr/>
        </p:nvSpPr>
        <p:spPr>
          <a:xfrm>
            <a:off x="271781" y="563888"/>
            <a:ext cx="8670600" cy="1086000"/>
          </a:xfrm>
          <a:prstGeom prst="rect">
            <a:avLst/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utfit"/>
              <a:buChar char="●"/>
            </a:pPr>
            <a:r>
              <a:rPr b="1" lang="zh-TW">
                <a:solidFill>
                  <a:schemeClr val="dk2"/>
                </a:solidFill>
                <a:latin typeface="Outfit"/>
                <a:ea typeface="Outfit"/>
                <a:cs typeface="Outfit"/>
                <a:sym typeface="Outfit"/>
              </a:rPr>
              <a:t>走期：📅 活動期間：2026/3/2（</a:t>
            </a:r>
            <a:r>
              <a:rPr b="1" lang="zh-TW">
                <a:solidFill>
                  <a:schemeClr val="dk2"/>
                </a:solidFill>
                <a:latin typeface="Outfit"/>
                <a:ea typeface="Outfit"/>
                <a:cs typeface="Outfit"/>
                <a:sym typeface="Outfit"/>
              </a:rPr>
              <a:t>一</a:t>
            </a:r>
            <a:r>
              <a:rPr b="1" lang="zh-TW">
                <a:solidFill>
                  <a:schemeClr val="dk2"/>
                </a:solidFill>
                <a:latin typeface="Outfit"/>
                <a:ea typeface="Outfit"/>
                <a:cs typeface="Outfit"/>
                <a:sym typeface="Outfit"/>
              </a:rPr>
              <a:t>） - 2026/3/29（日）</a:t>
            </a:r>
            <a:endParaRPr b="1" sz="2000"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utfit"/>
              <a:buChar char="●"/>
            </a:pPr>
            <a:r>
              <a:rPr b="1" lang="zh-TW" sz="1400">
                <a:solidFill>
                  <a:schemeClr val="dk2"/>
                </a:solidFill>
                <a:latin typeface="Outfit"/>
                <a:ea typeface="Outfit"/>
                <a:cs typeface="Outfit"/>
                <a:sym typeface="Outfit"/>
              </a:rPr>
              <a:t>活動內容: </a:t>
            </a:r>
            <a:r>
              <a:rPr lang="zh-TW" sz="1200">
                <a:solidFill>
                  <a:srgbClr val="3E3A39"/>
                </a:solidFill>
                <a:highlight>
                  <a:srgbClr val="FFFFFF"/>
                </a:highlight>
              </a:rPr>
              <a:t>如圖</a:t>
            </a:r>
            <a:endParaRPr b="1" sz="1800"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utfit"/>
              <a:buChar char="●"/>
            </a:pPr>
            <a:r>
              <a:rPr b="1" lang="zh-TW" sz="1400">
                <a:solidFill>
                  <a:schemeClr val="dk2"/>
                </a:solidFill>
                <a:latin typeface="Outfit"/>
                <a:ea typeface="Outfit"/>
                <a:cs typeface="Outfit"/>
                <a:sym typeface="Outfit"/>
              </a:rPr>
              <a:t>活動細則: </a:t>
            </a:r>
            <a:r>
              <a:rPr b="1" lang="zh-TW" sz="1400" u="sng">
                <a:solidFill>
                  <a:schemeClr val="hlink"/>
                </a:solidFill>
                <a:latin typeface="Outfit"/>
                <a:ea typeface="Outfit"/>
                <a:cs typeface="Outfit"/>
                <a:sym typeface="Outfit"/>
                <a:hlinkClick r:id="rId4"/>
              </a:rPr>
              <a:t>活動連結</a:t>
            </a:r>
            <a:endParaRPr b="1" sz="1400"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utfit"/>
              <a:buChar char="●"/>
            </a:pPr>
            <a:r>
              <a:rPr b="1" lang="zh-TW" sz="1400">
                <a:solidFill>
                  <a:schemeClr val="dk2"/>
                </a:solidFill>
                <a:latin typeface="Outfit"/>
                <a:ea typeface="Outfit"/>
                <a:cs typeface="Outfit"/>
                <a:sym typeface="Outfit"/>
              </a:rPr>
              <a:t>相關文宣 / 圖片: </a:t>
            </a:r>
            <a:endParaRPr b="1" sz="1400"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95" name="Google Shape;195;p43"/>
          <p:cNvSpPr txBox="1"/>
          <p:nvPr/>
        </p:nvSpPr>
        <p:spPr>
          <a:xfrm>
            <a:off x="3499400" y="1811257"/>
            <a:ext cx="5492100" cy="849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4900" lIns="54900" spcFirstLastPara="1" rIns="54900" wrap="square" tIns="54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rgbClr val="0E0E0E"/>
                </a:solidFill>
                <a:latin typeface="Outfit"/>
                <a:ea typeface="Outfit"/>
                <a:cs typeface="Outfit"/>
                <a:sym typeface="Outfit"/>
              </a:rPr>
              <a:t>Comparison</a:t>
            </a:r>
            <a:endParaRPr b="1" sz="1200">
              <a:solidFill>
                <a:srgbClr val="0E0E0E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Outfit"/>
              <a:buAutoNum type="arabicPeriod"/>
            </a:pPr>
            <a:r>
              <a:rPr b="1" lang="zh-TW" sz="1200">
                <a:solidFill>
                  <a:srgbClr val="0E0E0E"/>
                </a:solidFill>
                <a:latin typeface="Outfit"/>
                <a:ea typeface="Outfit"/>
                <a:cs typeface="Outfit"/>
                <a:sym typeface="Outfit"/>
              </a:rPr>
              <a:t>滿額折: </a:t>
            </a:r>
            <a:r>
              <a:rPr b="1" lang="zh-TW" sz="1200">
                <a:solidFill>
                  <a:srgbClr val="0E0E0E"/>
                </a:solidFill>
                <a:latin typeface="Outfit"/>
                <a:ea typeface="Outfit"/>
                <a:cs typeface="Outfit"/>
                <a:sym typeface="Outfit"/>
              </a:rPr>
              <a:t>無明確比較性</a:t>
            </a:r>
            <a:endParaRPr b="1" sz="1200">
              <a:solidFill>
                <a:srgbClr val="0E0E0E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Outfit"/>
              <a:buAutoNum type="alphaLcPeriod"/>
            </a:pPr>
            <a:r>
              <a:rPr b="1" lang="zh-TW" sz="1200">
                <a:solidFill>
                  <a:srgbClr val="0E0E0E"/>
                </a:solidFill>
                <a:latin typeface="Outfit"/>
                <a:ea typeface="Outfit"/>
                <a:cs typeface="Outfit"/>
                <a:sym typeface="Outfit"/>
              </a:rPr>
              <a:t>OWNDAYS有1+1折$666</a:t>
            </a:r>
            <a:endParaRPr b="1" sz="1200">
              <a:solidFill>
                <a:srgbClr val="0E0E0E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Outfit"/>
              <a:buAutoNum type="alphaLcPeriod"/>
            </a:pPr>
            <a:r>
              <a:rPr b="1" lang="zh-TW" sz="1200">
                <a:solidFill>
                  <a:srgbClr val="0E0E0E"/>
                </a:solidFill>
                <a:latin typeface="Outfit"/>
                <a:ea typeface="Outfit"/>
                <a:cs typeface="Outfit"/>
                <a:sym typeface="Outfit"/>
              </a:rPr>
              <a:t>另有$12,000折$666</a:t>
            </a:r>
            <a:endParaRPr b="1" sz="1200">
              <a:solidFill>
                <a:srgbClr val="0E0E0E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96" name="Google Shape;196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1775" y="1811260"/>
            <a:ext cx="3075224" cy="3039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